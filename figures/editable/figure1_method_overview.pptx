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96012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E7EEF6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1F4E79"/>
                </a:solidFill>
                <a:latin typeface="Calibri"/>
              </a:rPr>
              <a:t>Intervention matrix B</a:t>
            </a:r>
          </a:p>
          <a:p>
            <a:pPr algn="ctr">
              <a:spcBef>
                <a:spcPts val="1200"/>
              </a:spcBef>
            </a:pPr>
            <a:r>
              <a:rPr sz="1350" b="0">
                <a:solidFill>
                  <a:srgbClr val="2B2B2B"/>
                </a:solidFill>
                <a:latin typeface="Calibri"/>
              </a:rPr>
              <a:t>ecoinvent 3.8 cut-off</a:t>
            </a:r>
          </a:p>
          <a:p>
            <a:pPr algn="ctr">
              <a:spcBef>
                <a:spcPts val="800"/>
              </a:spcBef>
            </a:pPr>
            <a:r>
              <a:rPr sz="1350" b="0">
                <a:solidFill>
                  <a:srgbClr val="2B2B2B"/>
                </a:solidFill>
                <a:latin typeface="Calibri"/>
              </a:rPr>
              <a:t>direct flow intensities bₑ,ₚ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8A8A8A"/>
                </a:solidFill>
                <a:latin typeface="Calibri"/>
              </a:rPr>
              <a:t>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9080" y="7772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 w="222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2E7D6B"/>
                </a:solidFill>
                <a:latin typeface="Calibri"/>
              </a:rPr>
              <a:t>Scaling vector ṡ</a:t>
            </a:r>
          </a:p>
          <a:p>
            <a:pPr algn="ctr">
              <a:spcBef>
                <a:spcPts val="1200"/>
              </a:spcBef>
            </a:pPr>
            <a:r>
              <a:rPr sz="1350" b="0">
                <a:solidFill>
                  <a:srgbClr val="2B2B2B"/>
                </a:solidFill>
                <a:latin typeface="Calibri"/>
              </a:rPr>
              <a:t>annual production volumes  ṡₚ = PVₚ</a:t>
            </a:r>
          </a:p>
          <a:p>
            <a:pPr algn="ctr">
              <a:spcBef>
                <a:spcPts val="1000"/>
              </a:spcBef>
            </a:pPr>
            <a:r>
              <a:rPr sz="1150" b="1">
                <a:solidFill>
                  <a:srgbClr val="8A8A8A"/>
                </a:solidFill>
                <a:latin typeface="Calibri"/>
              </a:rPr>
              <a:t>sources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2B2B2B"/>
                </a:solidFill>
                <a:latin typeface="Calibri"/>
              </a:rPr>
              <a:t>ecoinvent · trade statistics · reports ·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1231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8A8A8A"/>
                </a:solidFill>
                <a:latin typeface="Calibri"/>
              </a:rPr>
              <a:t>=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9601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BEED6"/>
          </a:solidFill>
          <a:ln w="22225">
            <a:solidFill>
              <a:srgbClr val="B979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B9791B"/>
                </a:solidFill>
                <a:latin typeface="Calibri"/>
              </a:rPr>
              <a:t>Normalization inventory ġ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2B2B2B"/>
                </a:solidFill>
                <a:latin typeface="Calibri"/>
              </a:rPr>
              <a:t>ġ = B ṡ</a:t>
            </a:r>
          </a:p>
          <a:p>
            <a:pPr algn="ctr">
              <a:spcBef>
                <a:spcPts val="1000"/>
              </a:spcBef>
            </a:pPr>
            <a:r>
              <a:rPr sz="1300" b="0">
                <a:solidFill>
                  <a:srgbClr val="2B2B2B"/>
                </a:solidFill>
                <a:latin typeface="Calibri"/>
              </a:rPr>
              <a:t>global annual amount of each flow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985248" y="2788920"/>
            <a:ext cx="0" cy="868680"/>
          </a:xfrm>
          <a:prstGeom prst="line">
            <a:avLst/>
          </a:prstGeom>
          <a:ln w="3175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46320" y="28803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B2B2B"/>
                </a:solidFill>
                <a:latin typeface="Calibri"/>
              </a:rPr>
              <a:t>× Q   characterization matrix</a:t>
            </a:r>
          </a:p>
          <a:p>
            <a:pPr algn="r"/>
            <a:r>
              <a:rPr sz="1150" b="0">
                <a:solidFill>
                  <a:srgbClr val="8A8A8A"/>
                </a:solidFill>
                <a:latin typeface="Calibri"/>
              </a:rPr>
              <a:t>(EF v3.0,  ReCiPe 2016,  IMPACTWorld+)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657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6E4DE"/>
          </a:solidFill>
          <a:ln w="22225">
            <a:solidFill>
              <a:srgbClr val="A63A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A63A25"/>
                </a:solidFill>
                <a:latin typeface="Calibri"/>
              </a:rPr>
              <a:t>Normalization reference ḣ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2B2B2B"/>
                </a:solidFill>
                <a:latin typeface="Calibri"/>
              </a:rPr>
              <a:t>ḣ = Q ġ</a:t>
            </a:r>
          </a:p>
          <a:p>
            <a:pPr algn="ctr">
              <a:spcBef>
                <a:spcPts val="1000"/>
              </a:spcBef>
            </a:pPr>
            <a:r>
              <a:rPr sz="1300" b="0">
                <a:solidFill>
                  <a:srgbClr val="2B2B2B"/>
                </a:solidFill>
                <a:latin typeface="Calibri"/>
              </a:rPr>
              <a:t>per impact category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7763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Applied to a product system under study:</a:t>
            </a:r>
          </a:p>
          <a:p>
            <a:pPr algn="l"/>
            <a:r>
              <a:rPr sz="2000" b="1">
                <a:solidFill>
                  <a:srgbClr val="2B2B2B"/>
                </a:solidFill>
                <a:latin typeface="Calibri"/>
              </a:rPr>
              <a:t>h̃ᵢ = hᵢ / ḣᵢ     (unit: yr)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